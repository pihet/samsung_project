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594360" cy="502920"/>
          </a:xfrm>
          <a:prstGeom prst="rect">
            <a:avLst/>
          </a:prstGeom>
          <a:solidFill>
            <a:srgbClr val="115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7548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탐색적 데이터 분석 (EDA) — 시계열 특성 및 모델링 근거 도출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832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01  주간 계절성 &amp; 자기상관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3017520" cy="38404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t>★ Lag 7 자기상관 r = 0.9057</a:t>
            </a:r>
          </a:p>
        </p:txBody>
      </p:sp>
      <p:pic>
        <p:nvPicPr>
          <p:cNvPr id="9" name="Picture 8" descr="eda_chart1_sea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017520" cy="14401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45720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Lag 7에서 0.9057의 강한 자기상관 관측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요일별 분석 결과 주말(금~일) 2~4% 특가 집중</a:t>
            </a:r>
          </a:p>
          <a:p>
            <a:pPr>
              <a:spcAft>
                <a:spcPts val="400"/>
              </a:spcAft>
              <a:defRPr sz="1050" b="1">
                <a:solidFill>
                  <a:srgbClr val="115DCE"/>
                </a:solidFill>
              </a:defRPr>
            </a:pPr>
            <a:r>
              <a:t>• [모델 반영]: 7일 주기 계절성 가중치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3750" y="128016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3750" y="1280160"/>
            <a:ext cx="33832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02  7일 이동 변동성 탐색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6630" y="1920240"/>
            <a:ext cx="3017520" cy="38404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8B5CF6"/>
                </a:solidFill>
              </a:defRPr>
            </a:pPr>
            <a:r>
              <a:t>★ Rolling Volatility 분석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86630" y="2468880"/>
          <a:ext cx="3017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34155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34155"/>
                          </a:solidFill>
                        </a:defRPr>
                      </a:pPr>
                      <a:r>
                        <a:t>수치 / 판정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34155"/>
                          </a:solidFill>
                        </a:defRPr>
                      </a:pPr>
                      <a:r>
                        <a:t>평균 수집 간격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34155"/>
                          </a:solidFill>
                        </a:defRPr>
                      </a:pPr>
                      <a:r>
                        <a:t>1.9일 (불규칙)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34155"/>
                          </a:solidFill>
                        </a:defRPr>
                      </a:pPr>
                      <a:r>
                        <a:t>최대 수집 공백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334155"/>
                          </a:solidFill>
                        </a:defRPr>
                      </a:pPr>
                      <a:r>
                        <a:t>3.9일 (보간 필요)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40910" y="45720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7일 Rolling Std로 단발성 튐 vs 지속 추세 분리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정상 변동폭(±1.5%) 초과 급변동 스파이크 감지</a:t>
            </a:r>
          </a:p>
          <a:p>
            <a:pPr>
              <a:spcAft>
                <a:spcPts val="400"/>
              </a:spcAft>
              <a:defRPr sz="1050" b="1">
                <a:solidFill>
                  <a:srgbClr val="115DCE"/>
                </a:solidFill>
              </a:defRPr>
            </a:pPr>
            <a:r>
              <a:t>• [전처리 반영]: 2.5×IQR 완화 기준 수립 근거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5980" y="1280160"/>
            <a:ext cx="33832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5980" y="1280160"/>
            <a:ext cx="338328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03  ADF + KPSS 정상성 검정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8860" y="1920240"/>
            <a:ext cx="3017520" cy="38404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★ 1차 차분 후 100% 정상성 확보</a:t>
            </a:r>
          </a:p>
        </p:txBody>
      </p:sp>
      <p:pic>
        <p:nvPicPr>
          <p:cNvPr id="19" name="Picture 18" descr="eda_chart2_station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860" y="2423160"/>
            <a:ext cx="3017520" cy="14401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13140" y="45720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원시 시계열: ADF p=0.8978 ❌ (비정상)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1차 차분 시계열: ADF p=0.0000 ✅ (정상)</a:t>
            </a:r>
          </a:p>
          <a:p>
            <a:pPr>
              <a:spcAft>
                <a:spcPts val="400"/>
              </a:spcAft>
              <a:defRPr sz="1050" b="1">
                <a:solidFill>
                  <a:srgbClr val="115DCE"/>
                </a:solidFill>
              </a:defRPr>
            </a:pPr>
            <a:r>
              <a:t>• [모델 반영]: Auto-ARIMA d=1 차분 채택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